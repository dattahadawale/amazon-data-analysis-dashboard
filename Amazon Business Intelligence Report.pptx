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4" r:id="rId1"/>
    <p:sldMasterId id="2147484027" r:id="rId2"/>
    <p:sldMasterId id="2147484015" r:id="rId3"/>
    <p:sldMasterId id="2147484003" r:id="rId4"/>
  </p:sldMasterIdLst>
  <p:sldIdLst>
    <p:sldId id="256" r:id="rId5"/>
    <p:sldId id="257" r:id="rId6"/>
    <p:sldId id="258" r:id="rId7"/>
    <p:sldId id="259" r:id="rId8"/>
    <p:sldId id="260" r:id="rId9"/>
    <p:sldId id="261" r:id="rId10"/>
    <p:sldId id="262" r:id="rId11"/>
    <p:sldId id="263" r:id="rId12"/>
    <p:sldId id="265" r:id="rId13"/>
    <p:sldId id="264" r:id="rId14"/>
    <p:sldId id="266" r:id="rId15"/>
    <p:sldId id="267" r:id="rId16"/>
    <p:sldId id="268" r:id="rId17"/>
    <p:sldId id="269" r:id="rId18"/>
    <p:sldId id="270" r:id="rId19"/>
    <p:sldId id="271" r:id="rId20"/>
    <p:sldId id="272"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8E1EF79F-0E07-4C89-91BA-525B150642C1}" type="datetimeFigureOut">
              <a:rPr lang="en-IN" smtClean="0"/>
              <a:t>01-03-2026</a:t>
            </a:fld>
            <a:endParaRPr lang="en-IN"/>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IN"/>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117F83BF-A6E5-4D24-B9B2-7E676992B903}" type="slidenum">
              <a:rPr lang="en-IN" smtClean="0"/>
              <a:t>‹#›</a:t>
            </a:fld>
            <a:endParaRPr lang="en-IN"/>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20109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EF79F-0E07-4C89-91BA-525B150642C1}"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3996396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1EF79F-0E07-4C89-91BA-525B150642C1}"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21383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1EF79F-0E07-4C89-91BA-525B150642C1}"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330882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1EF79F-0E07-4C89-91BA-525B150642C1}" type="datetimeFigureOut">
              <a:rPr lang="en-IN" smtClean="0"/>
              <a:t>01-03-2026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3944080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1EF79F-0E07-4C89-91BA-525B150642C1}" type="datetimeFigureOut">
              <a:rPr lang="en-IN" smtClean="0"/>
              <a:t>01-03-2026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3290052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EF79F-0E07-4C89-91BA-525B150642C1}" type="datetimeFigureOut">
              <a:rPr lang="en-IN" smtClean="0"/>
              <a:t>01-03-2026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1146312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1EF79F-0E07-4C89-91BA-525B150642C1}"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2878111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1EF79F-0E07-4C89-91BA-525B150642C1}"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510300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1EF79F-0E07-4C89-91BA-525B150642C1}"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751755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1EF79F-0E07-4C89-91BA-525B150642C1}"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41036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1EF79F-0E07-4C89-91BA-525B150642C1}"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F83BF-A6E5-4D24-B9B2-7E676992B903}" type="slidenum">
              <a:rPr lang="en-IN" smtClean="0"/>
              <a:t>‹#›</a:t>
            </a:fld>
            <a:endParaRPr lang="en-IN"/>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21521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1EF79F-0E07-4C89-91BA-525B150642C1}"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2227793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E1EF79F-0E07-4C89-91BA-525B150642C1}" type="datetimeFigureOut">
              <a:rPr lang="en-IN" smtClean="0"/>
              <a:t>01-03-2026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2832491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E1EF79F-0E07-4C89-91BA-525B150642C1}" type="datetimeFigureOut">
              <a:rPr lang="en-IN" smtClean="0"/>
              <a:t>01-03-2026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20321822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EF79F-0E07-4C89-91BA-525B150642C1}"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2336089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EF79F-0E07-4C89-91BA-525B150642C1}"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F83BF-A6E5-4D24-B9B2-7E676992B903}" type="slidenum">
              <a:rPr lang="en-IN" smtClean="0"/>
              <a:t>‹#›</a:t>
            </a:fld>
            <a:endParaRPr lang="en-IN"/>
          </a:p>
        </p:txBody>
      </p:sp>
    </p:spTree>
    <p:extLst>
      <p:ext uri="{BB962C8B-B14F-4D97-AF65-F5344CB8AC3E}">
        <p14:creationId xmlns:p14="http://schemas.microsoft.com/office/powerpoint/2010/main" val="1698646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8998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04BB7-8DFF-D5B8-6CA0-AF78A1645D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ADB1C62-D437-CC7C-1316-EF2B0D0FEB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692E55-349E-B546-7460-099EAA7F6E6D}"/>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5" name="Footer Placeholder 4">
            <a:extLst>
              <a:ext uri="{FF2B5EF4-FFF2-40B4-BE49-F238E27FC236}">
                <a16:creationId xmlns:a16="http://schemas.microsoft.com/office/drawing/2014/main" id="{94BE29AA-BED1-8DDC-5753-0421ECF2F4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5A7AA3-DBFE-20FA-B56B-CF1472CDFB27}"/>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2598751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72978-98DF-A364-F751-4B89277BA2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A292BB-A3E9-6BB7-CBED-3A9886631C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9CC95-B71A-7861-7D5C-5D624822B9A5}"/>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5" name="Footer Placeholder 4">
            <a:extLst>
              <a:ext uri="{FF2B5EF4-FFF2-40B4-BE49-F238E27FC236}">
                <a16:creationId xmlns:a16="http://schemas.microsoft.com/office/drawing/2014/main" id="{CDF1C2B5-DE7A-1418-53A2-9CFF4FDD51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CA8C6E-96C5-2DD9-7AB3-137B3FD8DAE4}"/>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29600555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60F25-9D2A-0F63-0EE5-B2BEB76D47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16AD91-2C0B-E644-8A47-B27D5BAB51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88C4EA-A5B9-0FBA-ED7C-0C017140FBDA}"/>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5" name="Footer Placeholder 4">
            <a:extLst>
              <a:ext uri="{FF2B5EF4-FFF2-40B4-BE49-F238E27FC236}">
                <a16:creationId xmlns:a16="http://schemas.microsoft.com/office/drawing/2014/main" id="{0DCEB306-CA93-9D3F-532D-0C57B66681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58385B-6F58-75BA-701E-2EC74B288E9B}"/>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1708686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0691D-60FD-EE99-9277-A26F733580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8891E3-0EAC-628A-19EE-79D186AC09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C5A73A-2D95-B41F-0E2D-678A3754E6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6495295-B578-0286-5E70-0C003CE23FFC}"/>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6" name="Footer Placeholder 5">
            <a:extLst>
              <a:ext uri="{FF2B5EF4-FFF2-40B4-BE49-F238E27FC236}">
                <a16:creationId xmlns:a16="http://schemas.microsoft.com/office/drawing/2014/main" id="{2844676D-D5E1-076A-83DF-1DEAC66D39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5871F8-7405-43E7-F8E4-B490EA000FA0}"/>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36269183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72476-D599-90FD-7C99-A6F39CA8D4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30BC93-1A3F-FCF5-D857-F1DD90DFAE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2B3405-B34A-6A71-DBF5-3165467DC0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F67B3C-530B-2FBF-734A-DCF9B43E7E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27C435-9D22-3973-1470-8812B43041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2918F15-492E-B1B5-7BD8-C65CBC93E7CD}"/>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8" name="Footer Placeholder 7">
            <a:extLst>
              <a:ext uri="{FF2B5EF4-FFF2-40B4-BE49-F238E27FC236}">
                <a16:creationId xmlns:a16="http://schemas.microsoft.com/office/drawing/2014/main" id="{3808F39D-2559-35E6-6091-4EF64E1DBE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DA8CBB-1776-B6E6-90D5-FEEE4850E4C8}"/>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5102410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87E80-083A-78AB-9358-3CB19B7F73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3CE37C-6032-7937-80D1-96566D146276}"/>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4" name="Footer Placeholder 3">
            <a:extLst>
              <a:ext uri="{FF2B5EF4-FFF2-40B4-BE49-F238E27FC236}">
                <a16:creationId xmlns:a16="http://schemas.microsoft.com/office/drawing/2014/main" id="{56381798-3E85-364E-F731-94FEE9CA8CB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5DD817-5C4A-2FBA-8952-2A9D2985CED4}"/>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25852764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B1DAC4-E329-C82F-017D-F9AB4F67CC8C}"/>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3" name="Footer Placeholder 2">
            <a:extLst>
              <a:ext uri="{FF2B5EF4-FFF2-40B4-BE49-F238E27FC236}">
                <a16:creationId xmlns:a16="http://schemas.microsoft.com/office/drawing/2014/main" id="{30486F5D-3D48-EA93-9AEA-5DEC425EB6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3632F65-CD83-1A96-5A15-C8E619DA3CAC}"/>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27596494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62B0A-5737-D8A2-3A9A-3235A4463A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C3A00A-903B-5484-FB9B-6F254B6D99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52FF26F-76F7-09E8-A66C-DD070FB347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80ECF0-0A44-721D-94D6-0D6838F88448}"/>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6" name="Footer Placeholder 5">
            <a:extLst>
              <a:ext uri="{FF2B5EF4-FFF2-40B4-BE49-F238E27FC236}">
                <a16:creationId xmlns:a16="http://schemas.microsoft.com/office/drawing/2014/main" id="{D67DB2EB-6AD5-383B-8414-A9E3DF8074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67146C-FE80-818C-B567-0EB6467B4118}"/>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9342095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3162-B605-F9CA-6A56-98D6727AB3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7BEA8F-0C59-AC53-6BFA-53047EFACB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7D94ED-1D54-0163-1BB9-12E9CA3438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E2C488-037B-D7B5-FEFE-2D63707E5414}"/>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6" name="Footer Placeholder 5">
            <a:extLst>
              <a:ext uri="{FF2B5EF4-FFF2-40B4-BE49-F238E27FC236}">
                <a16:creationId xmlns:a16="http://schemas.microsoft.com/office/drawing/2014/main" id="{CAD59473-4AF3-BDF0-0BC3-069AFAB055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BB6821-E0B6-E1FE-A4D6-27D227AA47A0}"/>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16133186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787DC-6946-A9A6-FAEA-4C1C46A8B4B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5A1B38-6AAF-0B76-64F8-FA39932D1A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E73C32-E1CD-7460-251D-F7DC675935D3}"/>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5" name="Footer Placeholder 4">
            <a:extLst>
              <a:ext uri="{FF2B5EF4-FFF2-40B4-BE49-F238E27FC236}">
                <a16:creationId xmlns:a16="http://schemas.microsoft.com/office/drawing/2014/main" id="{B37BAFE5-0E46-4FC3-C6E1-67E20968E1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9C8D50-22D5-FD01-876A-C319787DDCE7}"/>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8338821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E48812-BED1-0874-D136-C4C65CB210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CBAB40-13E7-49E5-1CB6-4A14A823C5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2737BC-32FF-AA00-ED96-BE9E42EE35D1}"/>
              </a:ext>
            </a:extLst>
          </p:cNvPr>
          <p:cNvSpPr>
            <a:spLocks noGrp="1"/>
          </p:cNvSpPr>
          <p:nvPr>
            <p:ph type="dt" sz="half" idx="10"/>
          </p:nvPr>
        </p:nvSpPr>
        <p:spPr/>
        <p:txBody>
          <a:bodyPr/>
          <a:lstStyle/>
          <a:p>
            <a:fld id="{A7FB74FB-2EAA-47AB-9DCD-2D8BE617246C}" type="datetimeFigureOut">
              <a:rPr lang="en-IN" smtClean="0"/>
              <a:t>01-03-2026</a:t>
            </a:fld>
            <a:endParaRPr lang="en-IN"/>
          </a:p>
        </p:txBody>
      </p:sp>
      <p:sp>
        <p:nvSpPr>
          <p:cNvPr id="5" name="Footer Placeholder 4">
            <a:extLst>
              <a:ext uri="{FF2B5EF4-FFF2-40B4-BE49-F238E27FC236}">
                <a16:creationId xmlns:a16="http://schemas.microsoft.com/office/drawing/2014/main" id="{A4678281-9E63-414D-9042-6BCE80DC05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E6243-0030-972C-0EC9-9284BA09BD61}"/>
              </a:ext>
            </a:extLst>
          </p:cNvPr>
          <p:cNvSpPr>
            <a:spLocks noGrp="1"/>
          </p:cNvSpPr>
          <p:nvPr>
            <p:ph type="sldNum" sz="quarter" idx="12"/>
          </p:nvPr>
        </p:nvSpPr>
        <p:spPr/>
        <p:txBody>
          <a:bodyPr/>
          <a:lstStyle/>
          <a:p>
            <a:fld id="{D82F021C-5221-40F8-BF0F-DAA9F67D965B}" type="slidenum">
              <a:rPr lang="en-IN" smtClean="0"/>
              <a:t>‹#›</a:t>
            </a:fld>
            <a:endParaRPr lang="en-IN"/>
          </a:p>
        </p:txBody>
      </p:sp>
    </p:spTree>
    <p:extLst>
      <p:ext uri="{BB962C8B-B14F-4D97-AF65-F5344CB8AC3E}">
        <p14:creationId xmlns:p14="http://schemas.microsoft.com/office/powerpoint/2010/main" val="41896804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B5CB4-F127-B4AF-F1D4-F6C4CC5F50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A001F8-BAD3-79A4-1F41-D3E506D924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E67FA51-2C67-58F0-196F-3088629253B8}"/>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5" name="Footer Placeholder 4">
            <a:extLst>
              <a:ext uri="{FF2B5EF4-FFF2-40B4-BE49-F238E27FC236}">
                <a16:creationId xmlns:a16="http://schemas.microsoft.com/office/drawing/2014/main" id="{36120F84-DBEA-BA44-B4A0-274F6D93A1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F3CA61-21CD-31A6-AC26-2046D89D9A0C}"/>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42389576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D7912-D81C-91B7-434A-F8B362DAA0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9795FE-255A-9D1F-9E50-B6538EAE46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C9051E-A93D-700A-8D77-FC94D41D0A81}"/>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5" name="Footer Placeholder 4">
            <a:extLst>
              <a:ext uri="{FF2B5EF4-FFF2-40B4-BE49-F238E27FC236}">
                <a16:creationId xmlns:a16="http://schemas.microsoft.com/office/drawing/2014/main" id="{C5A448BB-A87D-374D-870F-40D310AA56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026BEE-7578-627B-7796-87A6CAE4CCEC}"/>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5404365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C88F3-C83D-7037-555B-496E4BA626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BF87787-1C23-8869-80DA-0CC5877A95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2FACFB-B294-6DF8-97A2-652293FEEC93}"/>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5" name="Footer Placeholder 4">
            <a:extLst>
              <a:ext uri="{FF2B5EF4-FFF2-40B4-BE49-F238E27FC236}">
                <a16:creationId xmlns:a16="http://schemas.microsoft.com/office/drawing/2014/main" id="{FB177312-CA66-449C-DDC0-C883CBE95C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2E96FC-0B32-ABAD-2E88-8AE0AB3E945B}"/>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21843260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28C04-D24C-E959-5331-6183EEC35E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0EB841-07E1-E324-EC05-C40A5E966F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29266C-F28D-2349-838E-C27AD5B865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6967F9-7C8F-C890-A675-3B5AE9AF7502}"/>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6" name="Footer Placeholder 5">
            <a:extLst>
              <a:ext uri="{FF2B5EF4-FFF2-40B4-BE49-F238E27FC236}">
                <a16:creationId xmlns:a16="http://schemas.microsoft.com/office/drawing/2014/main" id="{FDCAD476-EB09-C8A6-9784-C06C968232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7FB939-4104-36DB-698B-415677602ACC}"/>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13850009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A4565-CBCC-B8CB-3D8D-7B23CE01DC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63F03D-52E8-D4F6-F214-F4499ED61F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DF06A7-EFE7-A408-15FC-29AC34EA3C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C13232-967B-E47D-0D6E-89B7262A1F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56D999-0097-68B7-78FB-C6C0643AEF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6A0E92-DA11-D150-8D84-D5DC00906CED}"/>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8" name="Footer Placeholder 7">
            <a:extLst>
              <a:ext uri="{FF2B5EF4-FFF2-40B4-BE49-F238E27FC236}">
                <a16:creationId xmlns:a16="http://schemas.microsoft.com/office/drawing/2014/main" id="{0A96379D-1AE3-7AD5-D01D-21979731A8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7328D10-A7F5-AAFE-7158-6F69CB9E325C}"/>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32140960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72C5B-9C94-B80C-2A9B-A7D492A359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2D310E-5DE8-95C2-006B-CCE976353546}"/>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4" name="Footer Placeholder 3">
            <a:extLst>
              <a:ext uri="{FF2B5EF4-FFF2-40B4-BE49-F238E27FC236}">
                <a16:creationId xmlns:a16="http://schemas.microsoft.com/office/drawing/2014/main" id="{197D72E2-45E7-8BDE-4FD8-0E18EDEFEE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2E71FA9-90BA-EB25-832A-5ED267A91C71}"/>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7723297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3C5272-CBE9-91F9-08C9-F785AB967E7B}"/>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3" name="Footer Placeholder 2">
            <a:extLst>
              <a:ext uri="{FF2B5EF4-FFF2-40B4-BE49-F238E27FC236}">
                <a16:creationId xmlns:a16="http://schemas.microsoft.com/office/drawing/2014/main" id="{5E3FCFB2-BF1B-8310-C21E-B54DC3CB47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29A46F-2E39-3C4B-0B6C-EB81F35BFA15}"/>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28815550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9DB65-ABF2-AF17-DDB4-37870D0AA8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8FAD53-6526-19D4-3435-70777DA27B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1129DA-1730-64C6-3F81-3763EBAC80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1B4BB7-79DF-B6D4-14D6-39BDD240B854}"/>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6" name="Footer Placeholder 5">
            <a:extLst>
              <a:ext uri="{FF2B5EF4-FFF2-40B4-BE49-F238E27FC236}">
                <a16:creationId xmlns:a16="http://schemas.microsoft.com/office/drawing/2014/main" id="{93EC9538-0658-FACF-341B-24A616B58D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BA2E7E-7323-8468-9813-BBD4830F3906}"/>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16694988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109DE-2FC0-9B82-3086-01EFB4C212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A4847A-58C1-0A97-62CE-580EC247D2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58E13F-0FB6-8D00-B427-1CC1858E78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A4C298-DB99-6F80-B6E0-F48FD26C4869}"/>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6" name="Footer Placeholder 5">
            <a:extLst>
              <a:ext uri="{FF2B5EF4-FFF2-40B4-BE49-F238E27FC236}">
                <a16:creationId xmlns:a16="http://schemas.microsoft.com/office/drawing/2014/main" id="{1A233E91-EEC2-AE4C-EBF7-3D424F29A3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5FA5E4-4424-CE99-C670-DE0C800CA5A4}"/>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19296862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87976-2FE1-4471-F895-0CD25C85635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624449-74D1-6AEE-A2D7-482B8D445F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1E5CCB-3560-6374-1F2E-8DCB4A5E5453}"/>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5" name="Footer Placeholder 4">
            <a:extLst>
              <a:ext uri="{FF2B5EF4-FFF2-40B4-BE49-F238E27FC236}">
                <a16:creationId xmlns:a16="http://schemas.microsoft.com/office/drawing/2014/main" id="{AC4BFC63-8179-AF7B-B05F-250673DCE9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9A096E-BC67-9A41-FF1E-495EF5D1C077}"/>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974092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30DB6C-640C-8936-E922-DA453EB750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BFD1C4-2EE6-B0A4-F8C1-CB3328CA7C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A96C1C-84DA-EECA-D3AC-047353AA4717}"/>
              </a:ext>
            </a:extLst>
          </p:cNvPr>
          <p:cNvSpPr>
            <a:spLocks noGrp="1"/>
          </p:cNvSpPr>
          <p:nvPr>
            <p:ph type="dt" sz="half" idx="10"/>
          </p:nvPr>
        </p:nvSpPr>
        <p:spPr/>
        <p:txBody>
          <a:bodyPr/>
          <a:lstStyle/>
          <a:p>
            <a:fld id="{1FF10CC5-7044-4C5C-8F94-4EB173D4F277}" type="datetimeFigureOut">
              <a:rPr lang="en-IN" smtClean="0"/>
              <a:t>01-03-2026</a:t>
            </a:fld>
            <a:endParaRPr lang="en-IN"/>
          </a:p>
        </p:txBody>
      </p:sp>
      <p:sp>
        <p:nvSpPr>
          <p:cNvPr id="5" name="Footer Placeholder 4">
            <a:extLst>
              <a:ext uri="{FF2B5EF4-FFF2-40B4-BE49-F238E27FC236}">
                <a16:creationId xmlns:a16="http://schemas.microsoft.com/office/drawing/2014/main" id="{D647C159-213A-94C8-8223-919A7A41BC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76F816-4F9B-BF57-D448-138E789BCB71}"/>
              </a:ext>
            </a:extLst>
          </p:cNvPr>
          <p:cNvSpPr>
            <a:spLocks noGrp="1"/>
          </p:cNvSpPr>
          <p:nvPr>
            <p:ph type="sldNum" sz="quarter" idx="12"/>
          </p:nvPr>
        </p:nvSpPr>
        <p:spPr/>
        <p:txBody>
          <a:bodyPr/>
          <a:lstStyle/>
          <a:p>
            <a:fld id="{85ACF430-9E92-4D93-95C2-5F950AF51591}" type="slidenum">
              <a:rPr lang="en-IN" smtClean="0"/>
              <a:t>‹#›</a:t>
            </a:fld>
            <a:endParaRPr lang="en-IN"/>
          </a:p>
        </p:txBody>
      </p:sp>
    </p:spTree>
    <p:extLst>
      <p:ext uri="{BB962C8B-B14F-4D97-AF65-F5344CB8AC3E}">
        <p14:creationId xmlns:p14="http://schemas.microsoft.com/office/powerpoint/2010/main" val="32039363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8FB7F-6614-4302-ACE1-808CA159E4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77CA1B-9DD5-1511-4F5E-8BC20732ED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543536-FF5A-A773-AF13-1BB6EC790EA2}"/>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5" name="Footer Placeholder 4">
            <a:extLst>
              <a:ext uri="{FF2B5EF4-FFF2-40B4-BE49-F238E27FC236}">
                <a16:creationId xmlns:a16="http://schemas.microsoft.com/office/drawing/2014/main" id="{322409CA-DEEB-AD6A-70FE-C2EEB35E7D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F8DA7F-64A4-8566-2BBA-0038226F68E4}"/>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35413229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5FE4D-8970-BDC5-0954-94187F6220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66600F-5A70-D43F-D96D-4F7E724641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962BBD-72AD-E082-E6CB-2AB726159C39}"/>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5" name="Footer Placeholder 4">
            <a:extLst>
              <a:ext uri="{FF2B5EF4-FFF2-40B4-BE49-F238E27FC236}">
                <a16:creationId xmlns:a16="http://schemas.microsoft.com/office/drawing/2014/main" id="{063D1887-DC72-4E8D-5EC1-A62A9C4981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4033BB-EC8F-21EF-7FDC-736E5BC14717}"/>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17334173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087B8-18EF-95AD-3475-954237C175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41AEA71-1E87-7F4D-C07D-8283C925B2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945DA7-9E39-08A8-15C7-A4AFBABDDE4C}"/>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5" name="Footer Placeholder 4">
            <a:extLst>
              <a:ext uri="{FF2B5EF4-FFF2-40B4-BE49-F238E27FC236}">
                <a16:creationId xmlns:a16="http://schemas.microsoft.com/office/drawing/2014/main" id="{F0B33905-01C1-CE14-E659-D766B76F93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D89CDE-4C96-8CC1-3A55-EEDAF6646F7F}"/>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33631225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1BFE7-9F19-FCD8-59E6-E7F773039D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CF8B12-8D83-7869-3B62-D70037C988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4883DE7-C4A0-37C0-12F8-ED30202156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F0906D-03DC-8BA0-6294-7F2D64E33F62}"/>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6" name="Footer Placeholder 5">
            <a:extLst>
              <a:ext uri="{FF2B5EF4-FFF2-40B4-BE49-F238E27FC236}">
                <a16:creationId xmlns:a16="http://schemas.microsoft.com/office/drawing/2014/main" id="{EE2D0BB5-A334-EE0C-B562-33DC65E0BA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75885F-1BF4-5ECF-0DA8-A9B618A8931D}"/>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19911094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74001-2A5C-AA1F-6191-36CDA82B0A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821B4D-F5BD-3579-34B6-98E8314B54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638342-6F01-2DC9-87F0-E7949132F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29E0CE-5B33-015D-0693-031AC73B41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094794-67F2-55AD-29A4-DB394814B8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4094AB1-902A-9202-2968-02747E662DA8}"/>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8" name="Footer Placeholder 7">
            <a:extLst>
              <a:ext uri="{FF2B5EF4-FFF2-40B4-BE49-F238E27FC236}">
                <a16:creationId xmlns:a16="http://schemas.microsoft.com/office/drawing/2014/main" id="{C71813B1-E70E-C575-92A1-2833999C64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35990A3-E10B-896F-87E8-473BAF95ABAA}"/>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40721002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C20C3-8FA4-8757-0EBF-0ED3D28C675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27A20D-F82F-E783-32C4-763F70CCEBED}"/>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4" name="Footer Placeholder 3">
            <a:extLst>
              <a:ext uri="{FF2B5EF4-FFF2-40B4-BE49-F238E27FC236}">
                <a16:creationId xmlns:a16="http://schemas.microsoft.com/office/drawing/2014/main" id="{0DBAEAA9-3EE4-BD3E-0384-07EFBE5A80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6C69B58-02D8-EDD0-3C0A-B658E65BAA8D}"/>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27552653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95908E-A169-E8D6-ED26-2A3F013B63EB}"/>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3" name="Footer Placeholder 2">
            <a:extLst>
              <a:ext uri="{FF2B5EF4-FFF2-40B4-BE49-F238E27FC236}">
                <a16:creationId xmlns:a16="http://schemas.microsoft.com/office/drawing/2014/main" id="{6F9F58C7-417D-A1F2-7007-941BF08274A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E4716D-CE8B-C06C-E7A1-79FAA34FC432}"/>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40241276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77443-CDBF-68EC-51C6-550B9D208D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4F28A6-E4BB-752B-DFC2-05FF764667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BC6337-E24D-02EA-214A-8932BCA9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47C67E-93E8-8476-48F6-A6A186FA27DA}"/>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6" name="Footer Placeholder 5">
            <a:extLst>
              <a:ext uri="{FF2B5EF4-FFF2-40B4-BE49-F238E27FC236}">
                <a16:creationId xmlns:a16="http://schemas.microsoft.com/office/drawing/2014/main" id="{849F5C2A-3C19-9265-1CAA-580FF6F70C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30B67D-50E7-D77D-4C76-D534331DB2EF}"/>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25064637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86C38-A1C6-9F88-18F4-376005BEF0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8F06F3-5F05-227E-7044-1F9EA93ED6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C26A0D-1F13-C58A-CD44-FA14800BB9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B152E4-84B0-C74E-1869-E007740B8277}"/>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6" name="Footer Placeholder 5">
            <a:extLst>
              <a:ext uri="{FF2B5EF4-FFF2-40B4-BE49-F238E27FC236}">
                <a16:creationId xmlns:a16="http://schemas.microsoft.com/office/drawing/2014/main" id="{EFAB9744-F0F5-F749-7C30-86562D4225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2C4016-9867-8651-A029-6D5B94509138}"/>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28828539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13E7B-E5F3-2D93-C838-4D9905775A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7FED6B-90FE-3102-CA78-435395BA1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5D9A81-41E4-5A20-6D42-537560727E4B}"/>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5" name="Footer Placeholder 4">
            <a:extLst>
              <a:ext uri="{FF2B5EF4-FFF2-40B4-BE49-F238E27FC236}">
                <a16:creationId xmlns:a16="http://schemas.microsoft.com/office/drawing/2014/main" id="{C0E7CC3C-3955-353E-7D03-03305AB05E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72E1C3-FBF8-AF0C-3D19-E4D3764228CD}"/>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5374781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FCD15A-5F82-9E03-E591-14DA4B1FE0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ECC7C3-7B90-6258-A13E-E677964551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F3189F-3D73-3552-23F0-FA1F1296070B}"/>
              </a:ext>
            </a:extLst>
          </p:cNvPr>
          <p:cNvSpPr>
            <a:spLocks noGrp="1"/>
          </p:cNvSpPr>
          <p:nvPr>
            <p:ph type="dt" sz="half" idx="10"/>
          </p:nvPr>
        </p:nvSpPr>
        <p:spPr/>
        <p:txBody>
          <a:bodyPr/>
          <a:lstStyle/>
          <a:p>
            <a:fld id="{2E143CC9-829F-49BF-85DB-4B0F374D965F}" type="datetimeFigureOut">
              <a:rPr lang="en-IN" smtClean="0"/>
              <a:t>01-03-2026</a:t>
            </a:fld>
            <a:endParaRPr lang="en-IN"/>
          </a:p>
        </p:txBody>
      </p:sp>
      <p:sp>
        <p:nvSpPr>
          <p:cNvPr id="5" name="Footer Placeholder 4">
            <a:extLst>
              <a:ext uri="{FF2B5EF4-FFF2-40B4-BE49-F238E27FC236}">
                <a16:creationId xmlns:a16="http://schemas.microsoft.com/office/drawing/2014/main" id="{57A0776A-D359-C57E-0BAC-C692B99CEA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844BC8-C55F-0B01-F2EE-3AEF36DC3002}"/>
              </a:ext>
            </a:extLst>
          </p:cNvPr>
          <p:cNvSpPr>
            <a:spLocks noGrp="1"/>
          </p:cNvSpPr>
          <p:nvPr>
            <p:ph type="sldNum" sz="quarter" idx="12"/>
          </p:nvPr>
        </p:nvSpPr>
        <p:spPr/>
        <p:txBody>
          <a:bodyPr/>
          <a:lstStyle/>
          <a:p>
            <a:fld id="{512297C5-495B-480F-8053-28A25CC6BFA3}" type="slidenum">
              <a:rPr lang="en-IN" smtClean="0"/>
              <a:t>‹#›</a:t>
            </a:fld>
            <a:endParaRPr lang="en-IN"/>
          </a:p>
        </p:txBody>
      </p:sp>
    </p:spTree>
    <p:extLst>
      <p:ext uri="{BB962C8B-B14F-4D97-AF65-F5344CB8AC3E}">
        <p14:creationId xmlns:p14="http://schemas.microsoft.com/office/powerpoint/2010/main" val="2497299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8E1EF79F-0E07-4C89-91BA-525B150642C1}" type="datetimeFigureOut">
              <a:rPr lang="en-IN" smtClean="0"/>
              <a:t>01-03-2026</a:t>
            </a:fld>
            <a:endParaRPr lang="en-IN"/>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IN"/>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117F83BF-A6E5-4D24-B9B2-7E676992B903}" type="slidenum">
              <a:rPr lang="en-IN" smtClean="0"/>
              <a:t>‹#›</a:t>
            </a:fld>
            <a:endParaRPr lang="en-IN"/>
          </a:p>
        </p:txBody>
      </p:sp>
    </p:spTree>
    <p:extLst>
      <p:ext uri="{BB962C8B-B14F-4D97-AF65-F5344CB8AC3E}">
        <p14:creationId xmlns:p14="http://schemas.microsoft.com/office/powerpoint/2010/main" val="2180895674"/>
      </p:ext>
    </p:extLst>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 id="2147483997" r:id="rId13"/>
    <p:sldLayoutId id="2147483998" r:id="rId14"/>
    <p:sldLayoutId id="2147483999" r:id="rId15"/>
    <p:sldLayoutId id="2147484000" r:id="rId16"/>
    <p:sldLayoutId id="2147484001" r:id="rId17"/>
    <p:sldLayoutId id="2147484002" r:id="rId18"/>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B5391D-32B3-77DC-25EF-C438968777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6D23B130-F13F-ABA7-F8AA-09B633820F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44B53F6F-6503-BDBC-DFAC-D57847FA70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B74FB-2EAA-47AB-9DCD-2D8BE617246C}" type="datetimeFigureOut">
              <a:rPr lang="en-IN" smtClean="0"/>
              <a:t>01-03-2026</a:t>
            </a:fld>
            <a:endParaRPr lang="en-IN"/>
          </a:p>
        </p:txBody>
      </p:sp>
      <p:sp>
        <p:nvSpPr>
          <p:cNvPr id="5" name="Footer Placeholder 4">
            <a:extLst>
              <a:ext uri="{FF2B5EF4-FFF2-40B4-BE49-F238E27FC236}">
                <a16:creationId xmlns:a16="http://schemas.microsoft.com/office/drawing/2014/main" id="{37477B07-1A1A-2D46-BE74-58E1EFAEF0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ADBF3F7-F7AB-D4CE-20F9-6AB716A961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2F021C-5221-40F8-BF0F-DAA9F67D965B}" type="slidenum">
              <a:rPr lang="en-IN" smtClean="0"/>
              <a:t>‹#›</a:t>
            </a:fld>
            <a:endParaRPr lang="en-IN"/>
          </a:p>
        </p:txBody>
      </p:sp>
    </p:spTree>
    <p:extLst>
      <p:ext uri="{BB962C8B-B14F-4D97-AF65-F5344CB8AC3E}">
        <p14:creationId xmlns:p14="http://schemas.microsoft.com/office/powerpoint/2010/main" val="3734935698"/>
      </p:ext>
    </p:extLst>
  </p:cSld>
  <p:clrMap bg1="lt1" tx1="dk1" bg2="lt2" tx2="dk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FF5519-8DE7-8FCE-A22C-D65369705B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97519A-3C90-8FEC-3261-32F1261491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A0965C-00BF-28DD-8940-0FC8A022B3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F10CC5-7044-4C5C-8F94-4EB173D4F277}" type="datetimeFigureOut">
              <a:rPr lang="en-IN" smtClean="0"/>
              <a:t>01-03-2026</a:t>
            </a:fld>
            <a:endParaRPr lang="en-IN"/>
          </a:p>
        </p:txBody>
      </p:sp>
      <p:sp>
        <p:nvSpPr>
          <p:cNvPr id="5" name="Footer Placeholder 4">
            <a:extLst>
              <a:ext uri="{FF2B5EF4-FFF2-40B4-BE49-F238E27FC236}">
                <a16:creationId xmlns:a16="http://schemas.microsoft.com/office/drawing/2014/main" id="{FC8C8274-68FF-29BA-52B5-3BF18AB13E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D79A82C-C30D-A02A-905F-980FA74CAA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ACF430-9E92-4D93-95C2-5F950AF51591}" type="slidenum">
              <a:rPr lang="en-IN" smtClean="0"/>
              <a:t>‹#›</a:t>
            </a:fld>
            <a:endParaRPr lang="en-IN"/>
          </a:p>
        </p:txBody>
      </p:sp>
    </p:spTree>
    <p:extLst>
      <p:ext uri="{BB962C8B-B14F-4D97-AF65-F5344CB8AC3E}">
        <p14:creationId xmlns:p14="http://schemas.microsoft.com/office/powerpoint/2010/main" val="304423086"/>
      </p:ext>
    </p:extLst>
  </p:cSld>
  <p:clrMap bg1="lt1" tx1="dk1" bg2="lt2" tx2="dk2" accent1="accent1" accent2="accent2" accent3="accent3" accent4="accent4" accent5="accent5" accent6="accent6" hlink="hlink" folHlink="folHlink"/>
  <p:sldLayoutIdLst>
    <p:sldLayoutId id="2147484016" r:id="rId1"/>
    <p:sldLayoutId id="2147484017" r:id="rId2"/>
    <p:sldLayoutId id="2147484018" r:id="rId3"/>
    <p:sldLayoutId id="2147484019" r:id="rId4"/>
    <p:sldLayoutId id="2147484020" r:id="rId5"/>
    <p:sldLayoutId id="2147484021" r:id="rId6"/>
    <p:sldLayoutId id="2147484022" r:id="rId7"/>
    <p:sldLayoutId id="2147484023" r:id="rId8"/>
    <p:sldLayoutId id="2147484024" r:id="rId9"/>
    <p:sldLayoutId id="2147484025" r:id="rId10"/>
    <p:sldLayoutId id="214748402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CF82EE-3946-ABB8-F0CA-48DB759AA3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EEE35A-BC80-C550-1CC3-0B5BBEF58D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E5F1C6-AE87-EEE9-C433-02C0013F91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143CC9-829F-49BF-85DB-4B0F374D965F}" type="datetimeFigureOut">
              <a:rPr lang="en-IN" smtClean="0"/>
              <a:t>01-03-2026</a:t>
            </a:fld>
            <a:endParaRPr lang="en-IN"/>
          </a:p>
        </p:txBody>
      </p:sp>
      <p:sp>
        <p:nvSpPr>
          <p:cNvPr id="5" name="Footer Placeholder 4">
            <a:extLst>
              <a:ext uri="{FF2B5EF4-FFF2-40B4-BE49-F238E27FC236}">
                <a16:creationId xmlns:a16="http://schemas.microsoft.com/office/drawing/2014/main" id="{1DE72517-BE46-ECE1-D47D-D83345A7D7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181AB1-AFAD-E405-0549-E9E1A31E07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2297C5-495B-480F-8053-28A25CC6BFA3}" type="slidenum">
              <a:rPr lang="en-IN" smtClean="0"/>
              <a:t>‹#›</a:t>
            </a:fld>
            <a:endParaRPr lang="en-IN"/>
          </a:p>
        </p:txBody>
      </p:sp>
    </p:spTree>
    <p:extLst>
      <p:ext uri="{BB962C8B-B14F-4D97-AF65-F5344CB8AC3E}">
        <p14:creationId xmlns:p14="http://schemas.microsoft.com/office/powerpoint/2010/main" val="3454974882"/>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06" r:id="rId3"/>
    <p:sldLayoutId id="2147484007" r:id="rId4"/>
    <p:sldLayoutId id="2147484008" r:id="rId5"/>
    <p:sldLayoutId id="2147484009" r:id="rId6"/>
    <p:sldLayoutId id="2147484010" r:id="rId7"/>
    <p:sldLayoutId id="2147484011" r:id="rId8"/>
    <p:sldLayoutId id="2147484012" r:id="rId9"/>
    <p:sldLayoutId id="2147484013" r:id="rId10"/>
    <p:sldLayoutId id="214748401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6CB88-591C-D2DF-187E-ABA366BCEE31}"/>
              </a:ext>
            </a:extLst>
          </p:cNvPr>
          <p:cNvSpPr>
            <a:spLocks noGrp="1"/>
          </p:cNvSpPr>
          <p:nvPr>
            <p:ph type="ctrTitle"/>
          </p:nvPr>
        </p:nvSpPr>
        <p:spPr/>
        <p:txBody>
          <a:bodyPr>
            <a:normAutofit/>
          </a:bodyPr>
          <a:lstStyle/>
          <a:p>
            <a:r>
              <a:rPr lang="en-IN" sz="6600" dirty="0"/>
              <a:t>Amazon Business Intelligence Report</a:t>
            </a:r>
          </a:p>
        </p:txBody>
      </p:sp>
      <p:sp>
        <p:nvSpPr>
          <p:cNvPr id="3" name="Subtitle 2">
            <a:extLst>
              <a:ext uri="{FF2B5EF4-FFF2-40B4-BE49-F238E27FC236}">
                <a16:creationId xmlns:a16="http://schemas.microsoft.com/office/drawing/2014/main" id="{369E3964-3A73-80A1-A327-114C1CAE07EE}"/>
              </a:ext>
            </a:extLst>
          </p:cNvPr>
          <p:cNvSpPr>
            <a:spLocks noGrp="1"/>
          </p:cNvSpPr>
          <p:nvPr>
            <p:ph type="subTitle" idx="1"/>
          </p:nvPr>
        </p:nvSpPr>
        <p:spPr/>
        <p:txBody>
          <a:bodyPr/>
          <a:lstStyle/>
          <a:p>
            <a:r>
              <a:rPr lang="en-IN" dirty="0"/>
              <a:t>By Datta Hadawale</a:t>
            </a:r>
          </a:p>
        </p:txBody>
      </p:sp>
      <p:pic>
        <p:nvPicPr>
          <p:cNvPr id="5" name="Picture 4">
            <a:extLst>
              <a:ext uri="{FF2B5EF4-FFF2-40B4-BE49-F238E27FC236}">
                <a16:creationId xmlns:a16="http://schemas.microsoft.com/office/drawing/2014/main" id="{902864F5-D40E-5AFD-CE29-909B33DD7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7505" y="632297"/>
            <a:ext cx="1068362" cy="555473"/>
          </a:xfrm>
          <a:prstGeom prst="rect">
            <a:avLst/>
          </a:prstGeom>
        </p:spPr>
      </p:pic>
      <p:pic>
        <p:nvPicPr>
          <p:cNvPr id="7" name="Picture 6">
            <a:extLst>
              <a:ext uri="{FF2B5EF4-FFF2-40B4-BE49-F238E27FC236}">
                <a16:creationId xmlns:a16="http://schemas.microsoft.com/office/drawing/2014/main" id="{CAD98637-3384-FAB3-FBE3-9D3550FD8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476" y="632297"/>
            <a:ext cx="1721796" cy="1341699"/>
          </a:xfrm>
          <a:prstGeom prst="rect">
            <a:avLst/>
          </a:prstGeom>
        </p:spPr>
      </p:pic>
    </p:spTree>
    <p:extLst>
      <p:ext uri="{BB962C8B-B14F-4D97-AF65-F5344CB8AC3E}">
        <p14:creationId xmlns:p14="http://schemas.microsoft.com/office/powerpoint/2010/main" val="2190560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8BBB9-9CA5-19B4-DBAC-C27359F0C37D}"/>
              </a:ext>
            </a:extLst>
          </p:cNvPr>
          <p:cNvSpPr>
            <a:spLocks noGrp="1"/>
          </p:cNvSpPr>
          <p:nvPr>
            <p:ph type="title" idx="4294967295"/>
          </p:nvPr>
        </p:nvSpPr>
        <p:spPr>
          <a:xfrm>
            <a:off x="685801" y="685800"/>
            <a:ext cx="10396882" cy="1151965"/>
          </a:xfrm>
        </p:spPr>
        <p:txBody>
          <a:bodyPr>
            <a:noAutofit/>
          </a:bodyPr>
          <a:lstStyle/>
          <a:p>
            <a:r>
              <a:rPr lang="en-IN" sz="4000" dirty="0"/>
              <a:t>Objective</a:t>
            </a:r>
            <a:br>
              <a:rPr lang="en-IN" sz="4000" dirty="0"/>
            </a:br>
            <a:endParaRPr lang="en-IN" sz="4000" dirty="0"/>
          </a:p>
        </p:txBody>
      </p:sp>
      <p:sp>
        <p:nvSpPr>
          <p:cNvPr id="3" name="Content Placeholder 2">
            <a:extLst>
              <a:ext uri="{FF2B5EF4-FFF2-40B4-BE49-F238E27FC236}">
                <a16:creationId xmlns:a16="http://schemas.microsoft.com/office/drawing/2014/main" id="{98E78260-C1EB-784F-F1C2-ADA9F6C3B8D4}"/>
              </a:ext>
            </a:extLst>
          </p:cNvPr>
          <p:cNvSpPr>
            <a:spLocks noGrp="1"/>
          </p:cNvSpPr>
          <p:nvPr>
            <p:ph idx="1"/>
          </p:nvPr>
        </p:nvSpPr>
        <p:spPr>
          <a:xfrm>
            <a:off x="685800" y="1210734"/>
            <a:ext cx="10396883" cy="3809502"/>
          </a:xfrm>
        </p:spPr>
        <p:txBody>
          <a:bodyPr>
            <a:normAutofit/>
          </a:bodyPr>
          <a:lstStyle/>
          <a:p>
            <a:r>
              <a:rPr lang="en-IN" sz="1900" b="1" i="1" cap="none" dirty="0">
                <a:latin typeface="Segoe UI" panose="020B0502040204020203" pitchFamily="34" charset="0"/>
                <a:cs typeface="Segoe UI" panose="020B0502040204020203" pitchFamily="34" charset="0"/>
              </a:rPr>
              <a:t>Amazon  business intelligent report want to create annual sales &amp; product report in 2023 &amp; 24 .</a:t>
            </a:r>
          </a:p>
          <a:p>
            <a:r>
              <a:rPr lang="en-IN" sz="1900" b="1" i="1" cap="none" dirty="0">
                <a:latin typeface="Segoe UI" panose="020B0502040204020203" pitchFamily="34" charset="0"/>
                <a:cs typeface="Segoe UI" panose="020B0502040204020203" pitchFamily="34" charset="0"/>
              </a:rPr>
              <a:t>This report can help me to understand the e-commerce sales &amp; learn the new things </a:t>
            </a:r>
          </a:p>
          <a:p>
            <a:r>
              <a:rPr lang="en-US" sz="1900" b="1" i="1" cap="none" dirty="0">
                <a:latin typeface="Segoe UI" panose="020B0502040204020203" pitchFamily="34" charset="0"/>
                <a:cs typeface="Segoe UI" panose="020B0502040204020203" pitchFamily="34" charset="0"/>
              </a:rPr>
              <a:t>The objective of this report is to analyze amazon sales data to understand overall business performance and support better decision-making</a:t>
            </a:r>
            <a:r>
              <a:rPr lang="en-US" sz="1900" dirty="0">
                <a:latin typeface="Segoe UI" panose="020B0502040204020203" pitchFamily="34" charset="0"/>
                <a:cs typeface="Segoe UI" panose="020B0502040204020203" pitchFamily="34" charset="0"/>
              </a:rPr>
              <a:t>.</a:t>
            </a:r>
            <a:endParaRPr lang="en-IN" sz="1900" dirty="0">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838E6587-003E-9018-B2DD-2ADC0E19C8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3036423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B7184-A8FD-B9A4-9C5E-3210C442E949}"/>
              </a:ext>
            </a:extLst>
          </p:cNvPr>
          <p:cNvSpPr>
            <a:spLocks noGrp="1"/>
          </p:cNvSpPr>
          <p:nvPr>
            <p:ph type="title" idx="4294967295"/>
          </p:nvPr>
        </p:nvSpPr>
        <p:spPr>
          <a:xfrm>
            <a:off x="685801" y="203201"/>
            <a:ext cx="10396882" cy="1280214"/>
          </a:xfrm>
        </p:spPr>
        <p:txBody>
          <a:bodyPr>
            <a:normAutofit fontScale="90000"/>
          </a:bodyPr>
          <a:lstStyle/>
          <a:p>
            <a:r>
              <a:rPr lang="en-IN" dirty="0"/>
              <a:t>Questions</a:t>
            </a:r>
            <a:br>
              <a:rPr lang="en-IN" dirty="0"/>
            </a:br>
            <a:endParaRPr lang="en-IN" dirty="0"/>
          </a:p>
        </p:txBody>
      </p:sp>
      <p:sp>
        <p:nvSpPr>
          <p:cNvPr id="3" name="Content Placeholder 2">
            <a:extLst>
              <a:ext uri="{FF2B5EF4-FFF2-40B4-BE49-F238E27FC236}">
                <a16:creationId xmlns:a16="http://schemas.microsoft.com/office/drawing/2014/main" id="{4063E816-08DE-6C98-8035-3630B977E87A}"/>
              </a:ext>
            </a:extLst>
          </p:cNvPr>
          <p:cNvSpPr>
            <a:spLocks noGrp="1"/>
          </p:cNvSpPr>
          <p:nvPr>
            <p:ph idx="1"/>
          </p:nvPr>
        </p:nvSpPr>
        <p:spPr>
          <a:xfrm>
            <a:off x="685800" y="1176867"/>
            <a:ext cx="10396883" cy="4197719"/>
          </a:xfrm>
        </p:spPr>
        <p:txBody>
          <a:bodyPr>
            <a:noAutofit/>
          </a:bodyPr>
          <a:lstStyle/>
          <a:p>
            <a:r>
              <a:rPr lang="en-IN" sz="1900" b="1" i="1" cap="none" dirty="0">
                <a:latin typeface="Segoe UI" panose="020B0502040204020203" pitchFamily="34" charset="0"/>
                <a:cs typeface="Segoe UI" panose="020B0502040204020203" pitchFamily="34" charset="0"/>
              </a:rPr>
              <a:t>What is the total revenue ?</a:t>
            </a:r>
          </a:p>
          <a:p>
            <a:r>
              <a:rPr lang="en-IN" sz="1900" b="1" i="1" cap="none" dirty="0">
                <a:latin typeface="Segoe UI" panose="020B0502040204020203" pitchFamily="34" charset="0"/>
                <a:cs typeface="Segoe UI" panose="020B0502040204020203" pitchFamily="34" charset="0"/>
              </a:rPr>
              <a:t>What is the total orders count ?</a:t>
            </a:r>
          </a:p>
          <a:p>
            <a:r>
              <a:rPr lang="en-IN" sz="1900" b="1" i="1" cap="none" dirty="0">
                <a:latin typeface="Segoe UI" panose="020B0502040204020203" pitchFamily="34" charset="0"/>
                <a:cs typeface="Segoe UI" panose="020B0502040204020203" pitchFamily="34" charset="0"/>
              </a:rPr>
              <a:t>What is the average order value (AOV) ?</a:t>
            </a:r>
          </a:p>
          <a:p>
            <a:r>
              <a:rPr lang="en-IN" sz="1900" b="1" i="1" cap="none" dirty="0">
                <a:latin typeface="Segoe UI" panose="020B0502040204020203" pitchFamily="34" charset="0"/>
                <a:cs typeface="Segoe UI" panose="020B0502040204020203" pitchFamily="34" charset="0"/>
              </a:rPr>
              <a:t>Which product category generates highest revenue ?</a:t>
            </a:r>
          </a:p>
          <a:p>
            <a:r>
              <a:rPr lang="en-IN" sz="1900" b="1" i="1" cap="none" dirty="0">
                <a:latin typeface="Segoe UI" panose="020B0502040204020203" pitchFamily="34" charset="0"/>
                <a:cs typeface="Segoe UI" panose="020B0502040204020203" pitchFamily="34" charset="0"/>
              </a:rPr>
              <a:t>Which region generate highest sales ?</a:t>
            </a:r>
          </a:p>
          <a:p>
            <a:r>
              <a:rPr lang="en-IN" sz="1900" b="1" i="1" cap="none" dirty="0">
                <a:latin typeface="Segoe UI" panose="020B0502040204020203" pitchFamily="34" charset="0"/>
                <a:cs typeface="Segoe UI" panose="020B0502040204020203" pitchFamily="34" charset="0"/>
              </a:rPr>
              <a:t>Monthly sales trend ?</a:t>
            </a:r>
          </a:p>
          <a:p>
            <a:r>
              <a:rPr lang="en-IN" sz="1900" b="1" i="1" cap="none" dirty="0">
                <a:latin typeface="Segoe UI" panose="020B0502040204020203" pitchFamily="34" charset="0"/>
                <a:cs typeface="Segoe UI" panose="020B0502040204020203" pitchFamily="34" charset="0"/>
              </a:rPr>
              <a:t>Top 10 selling products ?</a:t>
            </a:r>
          </a:p>
          <a:p>
            <a:r>
              <a:rPr lang="en-IN" sz="1900" b="1" i="1" cap="none" dirty="0">
                <a:latin typeface="Segoe UI" panose="020B0502040204020203" pitchFamily="34" charset="0"/>
                <a:cs typeface="Segoe UI" panose="020B0502040204020203" pitchFamily="34" charset="0"/>
              </a:rPr>
              <a:t>Revenue by product method ?</a:t>
            </a:r>
          </a:p>
          <a:p>
            <a:r>
              <a:rPr lang="en-IN" sz="1900" b="1" i="1" cap="none" dirty="0">
                <a:latin typeface="Segoe UI" panose="020B0502040204020203" pitchFamily="34" charset="0"/>
                <a:cs typeface="Segoe UI" panose="020B0502040204020203" pitchFamily="34" charset="0"/>
              </a:rPr>
              <a:t>Impact of discount on sales ?</a:t>
            </a:r>
          </a:p>
          <a:p>
            <a:r>
              <a:rPr lang="en-IN" sz="1900" b="1" i="1" cap="none" dirty="0">
                <a:latin typeface="Segoe UI" panose="020B0502040204020203" pitchFamily="34" charset="0"/>
                <a:cs typeface="Segoe UI" panose="020B0502040204020203" pitchFamily="34" charset="0"/>
              </a:rPr>
              <a:t>Which  month had highest revenue ?</a:t>
            </a:r>
          </a:p>
        </p:txBody>
      </p:sp>
      <p:pic>
        <p:nvPicPr>
          <p:cNvPr id="4" name="Picture 3">
            <a:extLst>
              <a:ext uri="{FF2B5EF4-FFF2-40B4-BE49-F238E27FC236}">
                <a16:creationId xmlns:a16="http://schemas.microsoft.com/office/drawing/2014/main" id="{FF61C087-E7B2-E665-E52D-3FD5B81B6B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1517759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A801-44B2-72EB-9AEB-2688A3C37E25}"/>
              </a:ext>
            </a:extLst>
          </p:cNvPr>
          <p:cNvSpPr>
            <a:spLocks noGrp="1"/>
          </p:cNvSpPr>
          <p:nvPr>
            <p:ph type="title" idx="4294967295"/>
          </p:nvPr>
        </p:nvSpPr>
        <p:spPr>
          <a:xfrm>
            <a:off x="685801" y="685800"/>
            <a:ext cx="10396882" cy="1151965"/>
          </a:xfrm>
        </p:spPr>
        <p:txBody>
          <a:bodyPr>
            <a:normAutofit fontScale="90000"/>
          </a:bodyPr>
          <a:lstStyle/>
          <a:p>
            <a:r>
              <a:rPr lang="en-IN" dirty="0"/>
              <a:t>Dataset</a:t>
            </a:r>
            <a:br>
              <a:rPr lang="en-IN" dirty="0"/>
            </a:br>
            <a:endParaRPr lang="en-IN" dirty="0"/>
          </a:p>
        </p:txBody>
      </p:sp>
      <p:pic>
        <p:nvPicPr>
          <p:cNvPr id="4" name="Picture 3">
            <a:extLst>
              <a:ext uri="{FF2B5EF4-FFF2-40B4-BE49-F238E27FC236}">
                <a16:creationId xmlns:a16="http://schemas.microsoft.com/office/drawing/2014/main" id="{01F8E511-B26D-7A2D-894A-2742735EC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133" y="5918200"/>
            <a:ext cx="1430867" cy="939800"/>
          </a:xfrm>
          <a:prstGeom prst="rect">
            <a:avLst/>
          </a:prstGeom>
        </p:spPr>
      </p:pic>
    </p:spTree>
    <p:extLst>
      <p:ext uri="{BB962C8B-B14F-4D97-AF65-F5344CB8AC3E}">
        <p14:creationId xmlns:p14="http://schemas.microsoft.com/office/powerpoint/2010/main" val="1718886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41D988F5-DA33-3A1A-3485-479CA7B6D1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2668" y="304800"/>
            <a:ext cx="10473266" cy="5070475"/>
          </a:xfrm>
          <a:prstGeom prst="rect">
            <a:avLst/>
          </a:prstGeom>
        </p:spPr>
      </p:pic>
      <p:pic>
        <p:nvPicPr>
          <p:cNvPr id="10" name="Picture 9">
            <a:extLst>
              <a:ext uri="{FF2B5EF4-FFF2-40B4-BE49-F238E27FC236}">
                <a16:creationId xmlns:a16="http://schemas.microsoft.com/office/drawing/2014/main" id="{E2498916-F236-EB19-105A-1E2869320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9308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CC72-A6F9-FCD7-6855-A87F9709CAE9}"/>
              </a:ext>
            </a:extLst>
          </p:cNvPr>
          <p:cNvSpPr>
            <a:spLocks noGrp="1"/>
          </p:cNvSpPr>
          <p:nvPr>
            <p:ph type="title" idx="4294967295"/>
          </p:nvPr>
        </p:nvSpPr>
        <p:spPr>
          <a:xfrm>
            <a:off x="685801" y="685800"/>
            <a:ext cx="10396882" cy="1151965"/>
          </a:xfrm>
        </p:spPr>
        <p:txBody>
          <a:bodyPr/>
          <a:lstStyle/>
          <a:p>
            <a:r>
              <a:rPr lang="en-IN" dirty="0"/>
              <a:t>Charts</a:t>
            </a:r>
          </a:p>
        </p:txBody>
      </p:sp>
      <p:pic>
        <p:nvPicPr>
          <p:cNvPr id="4" name="Picture 3">
            <a:extLst>
              <a:ext uri="{FF2B5EF4-FFF2-40B4-BE49-F238E27FC236}">
                <a16:creationId xmlns:a16="http://schemas.microsoft.com/office/drawing/2014/main" id="{916A0B0D-8F44-EDA2-BFBE-9DC96711D5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1057556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9C041-6DD7-392F-6A5B-BE89EE4C8F3B}"/>
              </a:ext>
            </a:extLst>
          </p:cNvPr>
          <p:cNvSpPr>
            <a:spLocks noGrp="1"/>
          </p:cNvSpPr>
          <p:nvPr>
            <p:ph type="title" idx="4294967295"/>
          </p:nvPr>
        </p:nvSpPr>
        <p:spPr>
          <a:xfrm>
            <a:off x="685801" y="685800"/>
            <a:ext cx="10396882" cy="1151965"/>
          </a:xfrm>
        </p:spPr>
        <p:txBody>
          <a:bodyPr>
            <a:normAutofit fontScale="90000"/>
          </a:bodyPr>
          <a:lstStyle/>
          <a:p>
            <a:r>
              <a:rPr lang="en-IN" dirty="0"/>
              <a:t>Monthly sales (in m)</a:t>
            </a:r>
            <a:br>
              <a:rPr lang="en-IN" dirty="0"/>
            </a:br>
            <a:endParaRPr lang="en-IN" dirty="0"/>
          </a:p>
        </p:txBody>
      </p:sp>
      <p:pic>
        <p:nvPicPr>
          <p:cNvPr id="5" name="Content Placeholder 4">
            <a:extLst>
              <a:ext uri="{FF2B5EF4-FFF2-40B4-BE49-F238E27FC236}">
                <a16:creationId xmlns:a16="http://schemas.microsoft.com/office/drawing/2014/main" id="{BDD1DC35-0CA8-C3F6-3D9A-18B805F8ED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1" y="1651000"/>
            <a:ext cx="10396882" cy="3724275"/>
          </a:xfrm>
          <a:prstGeom prst="rect">
            <a:avLst/>
          </a:prstGeom>
        </p:spPr>
      </p:pic>
      <p:pic>
        <p:nvPicPr>
          <p:cNvPr id="6" name="Picture 5">
            <a:extLst>
              <a:ext uri="{FF2B5EF4-FFF2-40B4-BE49-F238E27FC236}">
                <a16:creationId xmlns:a16="http://schemas.microsoft.com/office/drawing/2014/main" id="{A58A7807-0785-A853-C525-E01CCD7E9D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3113965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218C5-EEE9-CC32-3B2F-A4801318EF59}"/>
              </a:ext>
            </a:extLst>
          </p:cNvPr>
          <p:cNvSpPr>
            <a:spLocks noGrp="1"/>
          </p:cNvSpPr>
          <p:nvPr>
            <p:ph type="title" idx="4294967295"/>
          </p:nvPr>
        </p:nvSpPr>
        <p:spPr>
          <a:xfrm>
            <a:off x="685801" y="685800"/>
            <a:ext cx="10396882" cy="1151965"/>
          </a:xfrm>
        </p:spPr>
        <p:txBody>
          <a:bodyPr>
            <a:normAutofit fontScale="90000"/>
          </a:bodyPr>
          <a:lstStyle/>
          <a:p>
            <a:r>
              <a:rPr lang="en-IN" dirty="0"/>
              <a:t>Sales by categories</a:t>
            </a:r>
            <a:br>
              <a:rPr lang="en-IN" dirty="0"/>
            </a:br>
            <a:endParaRPr lang="en-IN" dirty="0"/>
          </a:p>
        </p:txBody>
      </p:sp>
      <p:pic>
        <p:nvPicPr>
          <p:cNvPr id="5" name="Content Placeholder 4">
            <a:extLst>
              <a:ext uri="{FF2B5EF4-FFF2-40B4-BE49-F238E27FC236}">
                <a16:creationId xmlns:a16="http://schemas.microsoft.com/office/drawing/2014/main" id="{BB339710-0CCD-2B1E-0225-62B283DCB7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1" y="1837764"/>
            <a:ext cx="10701682" cy="3537511"/>
          </a:xfrm>
          <a:prstGeom prst="rect">
            <a:avLst/>
          </a:prstGeom>
        </p:spPr>
      </p:pic>
      <p:pic>
        <p:nvPicPr>
          <p:cNvPr id="6" name="Picture 5">
            <a:extLst>
              <a:ext uri="{FF2B5EF4-FFF2-40B4-BE49-F238E27FC236}">
                <a16:creationId xmlns:a16="http://schemas.microsoft.com/office/drawing/2014/main" id="{B7A52366-DFFC-3354-2A86-7E47A302A1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3611941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A0187-F3F4-47B5-3BED-B04154A0CB4B}"/>
              </a:ext>
            </a:extLst>
          </p:cNvPr>
          <p:cNvSpPr>
            <a:spLocks noGrp="1"/>
          </p:cNvSpPr>
          <p:nvPr>
            <p:ph type="title" idx="4294967295"/>
          </p:nvPr>
        </p:nvSpPr>
        <p:spPr>
          <a:xfrm>
            <a:off x="685801" y="685800"/>
            <a:ext cx="10396882" cy="1151965"/>
          </a:xfrm>
        </p:spPr>
        <p:txBody>
          <a:bodyPr/>
          <a:lstStyle/>
          <a:p>
            <a:r>
              <a:rPr lang="en-IN" dirty="0"/>
              <a:t>Sales by region</a:t>
            </a:r>
          </a:p>
        </p:txBody>
      </p:sp>
      <p:pic>
        <p:nvPicPr>
          <p:cNvPr id="5" name="Content Placeholder 4">
            <a:extLst>
              <a:ext uri="{FF2B5EF4-FFF2-40B4-BE49-F238E27FC236}">
                <a16:creationId xmlns:a16="http://schemas.microsoft.com/office/drawing/2014/main" id="{48AF38AA-D848-B2E7-F502-BCF55C20D9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5267" y="1837766"/>
            <a:ext cx="10007416" cy="3537510"/>
          </a:xfrm>
          <a:prstGeom prst="rect">
            <a:avLst/>
          </a:prstGeom>
        </p:spPr>
      </p:pic>
      <p:pic>
        <p:nvPicPr>
          <p:cNvPr id="6" name="Picture 5">
            <a:extLst>
              <a:ext uri="{FF2B5EF4-FFF2-40B4-BE49-F238E27FC236}">
                <a16:creationId xmlns:a16="http://schemas.microsoft.com/office/drawing/2014/main" id="{B50DCCEF-C032-7CCF-38EF-825C3BE9EE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2821837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28DD-88FF-567B-C45E-63C7AF6345FE}"/>
              </a:ext>
            </a:extLst>
          </p:cNvPr>
          <p:cNvSpPr>
            <a:spLocks noGrp="1"/>
          </p:cNvSpPr>
          <p:nvPr>
            <p:ph type="title" idx="4294967295"/>
          </p:nvPr>
        </p:nvSpPr>
        <p:spPr>
          <a:xfrm>
            <a:off x="685801" y="685800"/>
            <a:ext cx="10396882" cy="1151965"/>
          </a:xfrm>
        </p:spPr>
        <p:txBody>
          <a:bodyPr/>
          <a:lstStyle/>
          <a:p>
            <a:r>
              <a:rPr lang="en-IN" dirty="0"/>
              <a:t>Payment analysis by sales</a:t>
            </a:r>
          </a:p>
        </p:txBody>
      </p:sp>
      <p:pic>
        <p:nvPicPr>
          <p:cNvPr id="5" name="Content Placeholder 4">
            <a:extLst>
              <a:ext uri="{FF2B5EF4-FFF2-40B4-BE49-F238E27FC236}">
                <a16:creationId xmlns:a16="http://schemas.microsoft.com/office/drawing/2014/main" id="{FD9B75EB-0525-600B-F06D-13ABEA0F10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2063750"/>
            <a:ext cx="10473083" cy="3311525"/>
          </a:xfrm>
          <a:prstGeom prst="rect">
            <a:avLst/>
          </a:prstGeom>
        </p:spPr>
      </p:pic>
      <p:pic>
        <p:nvPicPr>
          <p:cNvPr id="6" name="Picture 5">
            <a:extLst>
              <a:ext uri="{FF2B5EF4-FFF2-40B4-BE49-F238E27FC236}">
                <a16:creationId xmlns:a16="http://schemas.microsoft.com/office/drawing/2014/main" id="{0653322F-A3B1-2D3B-979A-928C92B9C1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131871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9B4DD-B82C-97B4-870E-4393350AF348}"/>
              </a:ext>
            </a:extLst>
          </p:cNvPr>
          <p:cNvSpPr>
            <a:spLocks noGrp="1"/>
          </p:cNvSpPr>
          <p:nvPr>
            <p:ph type="title" idx="4294967295"/>
          </p:nvPr>
        </p:nvSpPr>
        <p:spPr>
          <a:xfrm>
            <a:off x="685801" y="685800"/>
            <a:ext cx="10396882" cy="1151965"/>
          </a:xfrm>
        </p:spPr>
        <p:txBody>
          <a:bodyPr/>
          <a:lstStyle/>
          <a:p>
            <a:r>
              <a:rPr lang="en-IN" dirty="0"/>
              <a:t>Sales by state</a:t>
            </a:r>
          </a:p>
        </p:txBody>
      </p:sp>
      <p:pic>
        <p:nvPicPr>
          <p:cNvPr id="5" name="Content Placeholder 4">
            <a:extLst>
              <a:ext uri="{FF2B5EF4-FFF2-40B4-BE49-F238E27FC236}">
                <a16:creationId xmlns:a16="http://schemas.microsoft.com/office/drawing/2014/main" id="{1AE0282D-DBC8-5DBE-0E6B-83E6D28923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2933" y="1651000"/>
            <a:ext cx="10049749" cy="3724275"/>
          </a:xfrm>
          <a:prstGeom prst="rect">
            <a:avLst/>
          </a:prstGeom>
        </p:spPr>
      </p:pic>
      <p:pic>
        <p:nvPicPr>
          <p:cNvPr id="6" name="Picture 5">
            <a:extLst>
              <a:ext uri="{FF2B5EF4-FFF2-40B4-BE49-F238E27FC236}">
                <a16:creationId xmlns:a16="http://schemas.microsoft.com/office/drawing/2014/main" id="{F47B4975-A932-6BAD-E41D-B327385E71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3019889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92991-3BEE-172D-9A1C-54B2515843B5}"/>
              </a:ext>
            </a:extLst>
          </p:cNvPr>
          <p:cNvSpPr>
            <a:spLocks noGrp="1"/>
          </p:cNvSpPr>
          <p:nvPr>
            <p:ph type="title" idx="4294967295"/>
          </p:nvPr>
        </p:nvSpPr>
        <p:spPr>
          <a:xfrm>
            <a:off x="685801" y="685800"/>
            <a:ext cx="10396882" cy="1151965"/>
          </a:xfrm>
        </p:spPr>
        <p:txBody>
          <a:bodyPr/>
          <a:lstStyle/>
          <a:p>
            <a:r>
              <a:rPr lang="en-IN" dirty="0"/>
              <a:t>Top five product by sales</a:t>
            </a:r>
          </a:p>
        </p:txBody>
      </p:sp>
      <p:pic>
        <p:nvPicPr>
          <p:cNvPr id="5" name="Content Placeholder 4">
            <a:extLst>
              <a:ext uri="{FF2B5EF4-FFF2-40B4-BE49-F238E27FC236}">
                <a16:creationId xmlns:a16="http://schemas.microsoft.com/office/drawing/2014/main" id="{E3FB1D6C-E1F8-C16F-2573-A3DEB0AECD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3947" y="2006600"/>
            <a:ext cx="10188736" cy="3368675"/>
          </a:xfrm>
          <a:prstGeom prst="rect">
            <a:avLst/>
          </a:prstGeom>
        </p:spPr>
      </p:pic>
      <p:pic>
        <p:nvPicPr>
          <p:cNvPr id="6" name="Picture 5">
            <a:extLst>
              <a:ext uri="{FF2B5EF4-FFF2-40B4-BE49-F238E27FC236}">
                <a16:creationId xmlns:a16="http://schemas.microsoft.com/office/drawing/2014/main" id="{1F3D28D7-7690-41BD-E766-79F1A706AB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3248689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12BBD-037B-1F10-699D-89AD4E030154}"/>
              </a:ext>
            </a:extLst>
          </p:cNvPr>
          <p:cNvSpPr>
            <a:spLocks noGrp="1"/>
          </p:cNvSpPr>
          <p:nvPr>
            <p:ph type="title" idx="4294967295"/>
          </p:nvPr>
        </p:nvSpPr>
        <p:spPr>
          <a:xfrm>
            <a:off x="685801" y="1007532"/>
            <a:ext cx="10396882" cy="3970867"/>
          </a:xfrm>
        </p:spPr>
        <p:txBody>
          <a:bodyPr>
            <a:normAutofit/>
          </a:bodyPr>
          <a:lstStyle/>
          <a:p>
            <a:r>
              <a:rPr lang="en-IN" dirty="0"/>
              <a:t>Slicer</a:t>
            </a:r>
          </a:p>
        </p:txBody>
      </p:sp>
      <p:pic>
        <p:nvPicPr>
          <p:cNvPr id="5" name="Content Placeholder 4">
            <a:extLst>
              <a:ext uri="{FF2B5EF4-FFF2-40B4-BE49-F238E27FC236}">
                <a16:creationId xmlns:a16="http://schemas.microsoft.com/office/drawing/2014/main" id="{E7643F07-56B2-3A9E-5CE7-E3CD4D4655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00861" y="194735"/>
            <a:ext cx="6892538" cy="5011208"/>
          </a:xfrm>
          <a:prstGeom prst="rect">
            <a:avLst/>
          </a:prstGeom>
        </p:spPr>
      </p:pic>
      <p:pic>
        <p:nvPicPr>
          <p:cNvPr id="6" name="Picture 5">
            <a:extLst>
              <a:ext uri="{FF2B5EF4-FFF2-40B4-BE49-F238E27FC236}">
                <a16:creationId xmlns:a16="http://schemas.microsoft.com/office/drawing/2014/main" id="{3C33D725-6BC5-FEB3-423B-8484FA7E4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406979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1BE23-0CF1-0D87-1770-99232D1FFCA3}"/>
              </a:ext>
            </a:extLst>
          </p:cNvPr>
          <p:cNvSpPr>
            <a:spLocks noGrp="1"/>
          </p:cNvSpPr>
          <p:nvPr>
            <p:ph type="title" idx="4294967295"/>
          </p:nvPr>
        </p:nvSpPr>
        <p:spPr>
          <a:xfrm>
            <a:off x="3462867" y="287868"/>
            <a:ext cx="7619816" cy="1549898"/>
          </a:xfrm>
        </p:spPr>
        <p:txBody>
          <a:bodyPr>
            <a:normAutofit fontScale="90000"/>
          </a:bodyPr>
          <a:lstStyle/>
          <a:p>
            <a:r>
              <a:rPr lang="en-IN" dirty="0"/>
              <a:t>Final dashboard</a:t>
            </a:r>
            <a:br>
              <a:rPr lang="en-IN" dirty="0"/>
            </a:br>
            <a:endParaRPr lang="en-IN" dirty="0"/>
          </a:p>
        </p:txBody>
      </p:sp>
      <p:pic>
        <p:nvPicPr>
          <p:cNvPr id="9" name="Content Placeholder 8">
            <a:extLst>
              <a:ext uri="{FF2B5EF4-FFF2-40B4-BE49-F238E27FC236}">
                <a16:creationId xmlns:a16="http://schemas.microsoft.com/office/drawing/2014/main" id="{B714A07E-F6BD-14D5-51C5-7BD6C3F056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4251" y="1193800"/>
            <a:ext cx="10718432" cy="4181475"/>
          </a:xfrm>
          <a:prstGeom prst="rect">
            <a:avLst/>
          </a:prstGeom>
        </p:spPr>
      </p:pic>
      <p:pic>
        <p:nvPicPr>
          <p:cNvPr id="10" name="Picture 9">
            <a:extLst>
              <a:ext uri="{FF2B5EF4-FFF2-40B4-BE49-F238E27FC236}">
                <a16:creationId xmlns:a16="http://schemas.microsoft.com/office/drawing/2014/main" id="{E8E3CECA-7B21-2AA3-EDD1-267E0467E8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132479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DADEA-B95B-1F16-2D0A-1D3622134FB8}"/>
              </a:ext>
            </a:extLst>
          </p:cNvPr>
          <p:cNvSpPr>
            <a:spLocks noGrp="1"/>
          </p:cNvSpPr>
          <p:nvPr>
            <p:ph type="title" idx="4294967295"/>
          </p:nvPr>
        </p:nvSpPr>
        <p:spPr>
          <a:xfrm>
            <a:off x="685801" y="685800"/>
            <a:ext cx="10396882" cy="1151965"/>
          </a:xfrm>
        </p:spPr>
        <p:txBody>
          <a:bodyPr>
            <a:normAutofit fontScale="90000"/>
          </a:bodyPr>
          <a:lstStyle/>
          <a:p>
            <a:r>
              <a:rPr lang="en-IN" dirty="0"/>
              <a:t>Insights</a:t>
            </a:r>
            <a:br>
              <a:rPr lang="en-IN" dirty="0"/>
            </a:br>
            <a:endParaRPr lang="en-IN" dirty="0"/>
          </a:p>
        </p:txBody>
      </p:sp>
      <p:sp>
        <p:nvSpPr>
          <p:cNvPr id="3" name="Content Placeholder 2">
            <a:extLst>
              <a:ext uri="{FF2B5EF4-FFF2-40B4-BE49-F238E27FC236}">
                <a16:creationId xmlns:a16="http://schemas.microsoft.com/office/drawing/2014/main" id="{7EBE4F5B-7FC6-6868-C39F-8BB8BD70EABC}"/>
              </a:ext>
            </a:extLst>
          </p:cNvPr>
          <p:cNvSpPr>
            <a:spLocks noGrp="1"/>
          </p:cNvSpPr>
          <p:nvPr>
            <p:ph idx="1"/>
          </p:nvPr>
        </p:nvSpPr>
        <p:spPr>
          <a:xfrm>
            <a:off x="609600" y="1363133"/>
            <a:ext cx="10396883" cy="3774385"/>
          </a:xfrm>
        </p:spPr>
        <p:txBody>
          <a:bodyPr>
            <a:normAutofit/>
          </a:bodyPr>
          <a:lstStyle/>
          <a:p>
            <a:r>
              <a:rPr lang="en-US" sz="1900" i="1" cap="none" dirty="0"/>
              <a:t>I  </a:t>
            </a:r>
            <a:r>
              <a:rPr lang="en-US" sz="1900" b="1" i="1" cap="none" dirty="0">
                <a:latin typeface="Segoe UI" panose="020B0502040204020203" pitchFamily="34" charset="0"/>
                <a:cs typeface="Segoe UI" panose="020B0502040204020203" pitchFamily="34" charset="0"/>
              </a:rPr>
              <a:t>analyzed the amazon sales report for 2023 and identified important insights related to sales performance, categories, regions, and payment methods</a:t>
            </a:r>
            <a:r>
              <a:rPr lang="en-US" sz="1900" i="1" cap="none" dirty="0"/>
              <a:t>.</a:t>
            </a:r>
            <a:endParaRPr lang="en-US" sz="1900" b="1" i="1" cap="none" dirty="0">
              <a:latin typeface="Segoe UI" panose="020B0502040204020203" pitchFamily="34" charset="0"/>
              <a:cs typeface="Segoe UI" panose="020B0502040204020203" pitchFamily="34" charset="0"/>
            </a:endParaRPr>
          </a:p>
          <a:p>
            <a:r>
              <a:rPr lang="en-US" sz="1900" b="1" i="1" cap="none" dirty="0">
                <a:latin typeface="Segoe UI" panose="020B0502040204020203" pitchFamily="34" charset="0"/>
                <a:cs typeface="Segoe UI" panose="020B0502040204020203" pitchFamily="34" charset="0"/>
              </a:rPr>
              <a:t>January, </a:t>
            </a:r>
            <a:r>
              <a:rPr lang="en-US" sz="1900" b="1" i="1" cap="none" dirty="0" err="1">
                <a:latin typeface="Segoe UI" panose="020B0502040204020203" pitchFamily="34" charset="0"/>
                <a:cs typeface="Segoe UI" panose="020B0502040204020203" pitchFamily="34" charset="0"/>
              </a:rPr>
              <a:t>february</a:t>
            </a:r>
            <a:r>
              <a:rPr lang="en-US" sz="1900" b="1" i="1" cap="none" dirty="0">
                <a:latin typeface="Segoe UI" panose="020B0502040204020203" pitchFamily="34" charset="0"/>
                <a:cs typeface="Segoe UI" panose="020B0502040204020203" pitchFamily="34" charset="0"/>
              </a:rPr>
              <a:t>, and august have the highest sales of 0.6m.</a:t>
            </a:r>
            <a:br>
              <a:rPr lang="en-US" sz="1900" b="1" i="1" cap="none" dirty="0">
                <a:latin typeface="Segoe UI" panose="020B0502040204020203" pitchFamily="34" charset="0"/>
                <a:cs typeface="Segoe UI" panose="020B0502040204020203" pitchFamily="34" charset="0"/>
              </a:rPr>
            </a:br>
            <a:r>
              <a:rPr lang="en-US" sz="1900" b="1" i="1" cap="none" dirty="0">
                <a:latin typeface="Segoe UI" panose="020B0502040204020203" pitchFamily="34" charset="0"/>
                <a:cs typeface="Segoe UI" panose="020B0502040204020203" pitchFamily="34" charset="0"/>
              </a:rPr>
              <a:t>These months performed better compared to other months.</a:t>
            </a:r>
          </a:p>
          <a:p>
            <a:r>
              <a:rPr lang="en-US" sz="1900" b="1" i="1" cap="none" dirty="0">
                <a:latin typeface="Segoe UI" panose="020B0502040204020203" pitchFamily="34" charset="0"/>
                <a:cs typeface="Segoe UI" panose="020B0502040204020203" pitchFamily="34" charset="0"/>
              </a:rPr>
              <a:t>The category analysis shows me  that the home category generated the highest sales, followed by sports as the second-highest performing category. Electronics ranked third in overall sales performance.</a:t>
            </a:r>
          </a:p>
        </p:txBody>
      </p:sp>
      <p:pic>
        <p:nvPicPr>
          <p:cNvPr id="4" name="Picture 3">
            <a:extLst>
              <a:ext uri="{FF2B5EF4-FFF2-40B4-BE49-F238E27FC236}">
                <a16:creationId xmlns:a16="http://schemas.microsoft.com/office/drawing/2014/main" id="{0B28D2C9-1AFC-C3F7-0DA8-3E0C28296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72246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FC0DF2-71E8-8C66-110B-3EDFFF4D5C30}"/>
              </a:ext>
            </a:extLst>
          </p:cNvPr>
          <p:cNvSpPr>
            <a:spLocks noGrp="1"/>
          </p:cNvSpPr>
          <p:nvPr>
            <p:ph idx="1"/>
          </p:nvPr>
        </p:nvSpPr>
        <p:spPr>
          <a:xfrm>
            <a:off x="685800" y="-1490132"/>
            <a:ext cx="10396883" cy="5638799"/>
          </a:xfrm>
        </p:spPr>
        <p:txBody>
          <a:bodyPr/>
          <a:lstStyle/>
          <a:p>
            <a:r>
              <a:rPr lang="en-US" sz="1900" b="1" i="1" cap="none" dirty="0">
                <a:latin typeface="Segoe UI" panose="020B0502040204020203" pitchFamily="34" charset="0"/>
                <a:cs typeface="Segoe UI" panose="020B0502040204020203" pitchFamily="34" charset="0"/>
              </a:rPr>
              <a:t>The payment method analysis shows  me that cash on delivery is the most preferred payment method, generating sales of 1.10m. Credit card is the second most used payment method, contributing 1.07M in total sales</a:t>
            </a:r>
            <a:r>
              <a:rPr lang="en-US" b="1" i="1" cap="none" dirty="0">
                <a:latin typeface="Segoe UI" panose="020B0502040204020203" pitchFamily="34" charset="0"/>
                <a:cs typeface="Segoe UI" panose="020B0502040204020203" pitchFamily="34" charset="0"/>
              </a:rPr>
              <a:t>.</a:t>
            </a:r>
            <a:endParaRPr lang="en-IN" b="1" i="1" cap="none" dirty="0">
              <a:latin typeface="Segoe UI" panose="020B0502040204020203" pitchFamily="34" charset="0"/>
              <a:cs typeface="Segoe UI" panose="020B0502040204020203" pitchFamily="34" charset="0"/>
            </a:endParaRPr>
          </a:p>
          <a:p>
            <a:endParaRPr lang="en-IN" dirty="0"/>
          </a:p>
        </p:txBody>
      </p:sp>
      <p:pic>
        <p:nvPicPr>
          <p:cNvPr id="6" name="Picture 5">
            <a:extLst>
              <a:ext uri="{FF2B5EF4-FFF2-40B4-BE49-F238E27FC236}">
                <a16:creationId xmlns:a16="http://schemas.microsoft.com/office/drawing/2014/main" id="{44D50F37-F5CD-5DBC-AF75-6B0E31E19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133" y="5503333"/>
            <a:ext cx="1430867" cy="990599"/>
          </a:xfrm>
          <a:prstGeom prst="rect">
            <a:avLst/>
          </a:prstGeom>
        </p:spPr>
      </p:pic>
    </p:spTree>
    <p:extLst>
      <p:ext uri="{BB962C8B-B14F-4D97-AF65-F5344CB8AC3E}">
        <p14:creationId xmlns:p14="http://schemas.microsoft.com/office/powerpoint/2010/main" val="4210187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97E00-032D-6973-83F4-42C6F5E277DF}"/>
              </a:ext>
            </a:extLst>
          </p:cNvPr>
          <p:cNvSpPr>
            <a:spLocks noGrp="1"/>
          </p:cNvSpPr>
          <p:nvPr>
            <p:ph type="title" idx="4294967295"/>
          </p:nvPr>
        </p:nvSpPr>
        <p:spPr>
          <a:xfrm>
            <a:off x="685801" y="685800"/>
            <a:ext cx="10396882" cy="1151965"/>
          </a:xfrm>
        </p:spPr>
        <p:txBody>
          <a:bodyPr>
            <a:normAutofit fontScale="90000"/>
          </a:bodyPr>
          <a:lstStyle/>
          <a:p>
            <a:r>
              <a:rPr lang="en-IN" dirty="0"/>
              <a:t>Conclusion</a:t>
            </a:r>
            <a:br>
              <a:rPr lang="en-IN" dirty="0"/>
            </a:br>
            <a:endParaRPr lang="en-IN" dirty="0"/>
          </a:p>
        </p:txBody>
      </p:sp>
      <p:sp>
        <p:nvSpPr>
          <p:cNvPr id="3" name="Content Placeholder 2">
            <a:extLst>
              <a:ext uri="{FF2B5EF4-FFF2-40B4-BE49-F238E27FC236}">
                <a16:creationId xmlns:a16="http://schemas.microsoft.com/office/drawing/2014/main" id="{14D15983-B5B6-2E4D-B957-944C1C681036}"/>
              </a:ext>
            </a:extLst>
          </p:cNvPr>
          <p:cNvSpPr>
            <a:spLocks noGrp="1"/>
          </p:cNvSpPr>
          <p:nvPr>
            <p:ph idx="1"/>
          </p:nvPr>
        </p:nvSpPr>
        <p:spPr/>
        <p:txBody>
          <a:bodyPr>
            <a:normAutofit/>
          </a:bodyPr>
          <a:lstStyle/>
          <a:p>
            <a:r>
              <a:rPr lang="en-US" sz="1900" b="1" i="1" cap="none" dirty="0">
                <a:latin typeface="Segoe UI" panose="020B0502040204020203" pitchFamily="34" charset="0"/>
                <a:cs typeface="Segoe UI" panose="020B0502040204020203" pitchFamily="34" charset="0"/>
              </a:rPr>
              <a:t>From the amazon sales report 2024, we found that </a:t>
            </a:r>
            <a:r>
              <a:rPr lang="en-US" sz="1900" b="1" i="1" cap="none" dirty="0" err="1">
                <a:latin typeface="Segoe UI" panose="020B0502040204020203" pitchFamily="34" charset="0"/>
                <a:cs typeface="Segoe UI" panose="020B0502040204020203" pitchFamily="34" charset="0"/>
              </a:rPr>
              <a:t>january</a:t>
            </a:r>
            <a:r>
              <a:rPr lang="en-US" sz="1900" b="1" i="1" cap="none" dirty="0">
                <a:latin typeface="Segoe UI" panose="020B0502040204020203" pitchFamily="34" charset="0"/>
                <a:cs typeface="Segoe UI" panose="020B0502040204020203" pitchFamily="34" charset="0"/>
              </a:rPr>
              <a:t>, </a:t>
            </a:r>
            <a:r>
              <a:rPr lang="en-US" sz="1900" b="1" i="1" cap="none" dirty="0" err="1">
                <a:latin typeface="Segoe UI" panose="020B0502040204020203" pitchFamily="34" charset="0"/>
                <a:cs typeface="Segoe UI" panose="020B0502040204020203" pitchFamily="34" charset="0"/>
              </a:rPr>
              <a:t>february</a:t>
            </a:r>
            <a:r>
              <a:rPr lang="en-US" sz="1900" b="1" i="1" cap="none" dirty="0">
                <a:latin typeface="Segoe UI" panose="020B0502040204020203" pitchFamily="34" charset="0"/>
                <a:cs typeface="Segoe UI" panose="020B0502040204020203" pitchFamily="34" charset="0"/>
              </a:rPr>
              <a:t>, and august had the highest sales. </a:t>
            </a:r>
          </a:p>
          <a:p>
            <a:r>
              <a:rPr lang="en-US" sz="1900" b="1" i="1" cap="none" dirty="0">
                <a:latin typeface="Segoe UI" panose="020B0502040204020203" pitchFamily="34" charset="0"/>
                <a:cs typeface="Segoe UI" panose="020B0502040204020203" pitchFamily="34" charset="0"/>
              </a:rPr>
              <a:t>The home category performed best, and cash on delivery was the most used payment method. </a:t>
            </a:r>
          </a:p>
          <a:p>
            <a:r>
              <a:rPr lang="en-US" sz="1900" b="1" i="1" cap="none" dirty="0">
                <a:latin typeface="Segoe UI" panose="020B0502040204020203" pitchFamily="34" charset="0"/>
                <a:cs typeface="Segoe UI" panose="020B0502040204020203" pitchFamily="34" charset="0"/>
              </a:rPr>
              <a:t>The north region had the highest sales, and product_111 was the top-selling product. This report helps in understanding business performance and improving decisions.</a:t>
            </a:r>
          </a:p>
          <a:p>
            <a:pPr marL="0" indent="0">
              <a:buNone/>
            </a:pPr>
            <a:endParaRPr lang="en-IN" sz="1900" b="1" i="1" cap="none" dirty="0">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B5C37962-C833-1C7E-23AB-94B6707E3C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1499216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1A72C-B5E4-800B-C708-95C392E282A9}"/>
              </a:ext>
            </a:extLst>
          </p:cNvPr>
          <p:cNvSpPr>
            <a:spLocks noGrp="1"/>
          </p:cNvSpPr>
          <p:nvPr>
            <p:ph type="title" idx="4294967295"/>
          </p:nvPr>
        </p:nvSpPr>
        <p:spPr>
          <a:xfrm>
            <a:off x="685801" y="685800"/>
            <a:ext cx="10396882" cy="1151965"/>
          </a:xfrm>
        </p:spPr>
        <p:txBody>
          <a:bodyPr>
            <a:normAutofit fontScale="90000"/>
          </a:bodyPr>
          <a:lstStyle/>
          <a:p>
            <a:r>
              <a:rPr lang="en-IN" dirty="0"/>
              <a:t>Thank You…</a:t>
            </a:r>
            <a:br>
              <a:rPr lang="en-IN" dirty="0"/>
            </a:br>
            <a:endParaRPr lang="en-IN" dirty="0"/>
          </a:p>
        </p:txBody>
      </p:sp>
      <p:pic>
        <p:nvPicPr>
          <p:cNvPr id="4" name="Picture 3">
            <a:extLst>
              <a:ext uri="{FF2B5EF4-FFF2-40B4-BE49-F238E27FC236}">
                <a16:creationId xmlns:a16="http://schemas.microsoft.com/office/drawing/2014/main" id="{36270291-8647-5999-2AC0-E046CF830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133" y="5511800"/>
            <a:ext cx="1430867" cy="990599"/>
          </a:xfrm>
          <a:prstGeom prst="rect">
            <a:avLst/>
          </a:prstGeom>
        </p:spPr>
      </p:pic>
    </p:spTree>
    <p:extLst>
      <p:ext uri="{BB962C8B-B14F-4D97-AF65-F5344CB8AC3E}">
        <p14:creationId xmlns:p14="http://schemas.microsoft.com/office/powerpoint/2010/main" val="145357346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TM04033927[[fn=Main Event]]</Template>
  <TotalTime>362</TotalTime>
  <Words>350</Words>
  <Application>Microsoft Office PowerPoint</Application>
  <PresentationFormat>Widescreen</PresentationFormat>
  <Paragraphs>37</Paragraphs>
  <Slides>18</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18</vt:i4>
      </vt:variant>
    </vt:vector>
  </HeadingPairs>
  <TitlesOfParts>
    <vt:vector size="27" baseType="lpstr">
      <vt:lpstr>Arial</vt:lpstr>
      <vt:lpstr>Calibri</vt:lpstr>
      <vt:lpstr>Calibri Light</vt:lpstr>
      <vt:lpstr>Impact</vt:lpstr>
      <vt:lpstr>Segoe UI</vt:lpstr>
      <vt:lpstr>Main Event</vt:lpstr>
      <vt:lpstr>2_Custom Design</vt:lpstr>
      <vt:lpstr>1_Custom Design</vt:lpstr>
      <vt:lpstr>Custom Design</vt:lpstr>
      <vt:lpstr>Amazon Business Intelligence Report</vt:lpstr>
      <vt:lpstr>Objective </vt:lpstr>
      <vt:lpstr>Questions </vt:lpstr>
      <vt:lpstr>Dataset </vt:lpstr>
      <vt:lpstr>PowerPoint Presentation</vt:lpstr>
      <vt:lpstr>Charts</vt:lpstr>
      <vt:lpstr>Monthly sales (in m) </vt:lpstr>
      <vt:lpstr>Sales by categories </vt:lpstr>
      <vt:lpstr>Sales by region</vt:lpstr>
      <vt:lpstr>Payment analysis by sales</vt:lpstr>
      <vt:lpstr>Sales by state</vt:lpstr>
      <vt:lpstr>Top five product by sales</vt:lpstr>
      <vt:lpstr>Slicer</vt:lpstr>
      <vt:lpstr>Final dashboard </vt:lpstr>
      <vt:lpstr>Insights </vt:lpstr>
      <vt:lpstr>PowerPoint Presentation</vt:lpstr>
      <vt:lpstr>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datta Hadawale</dc:creator>
  <cp:lastModifiedBy>datta Hadawale</cp:lastModifiedBy>
  <cp:revision>1</cp:revision>
  <dcterms:created xsi:type="dcterms:W3CDTF">2026-02-28T06:07:33Z</dcterms:created>
  <dcterms:modified xsi:type="dcterms:W3CDTF">2026-03-01T11:23:07Z</dcterms:modified>
</cp:coreProperties>
</file>